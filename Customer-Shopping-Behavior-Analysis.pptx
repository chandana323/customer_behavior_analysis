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Inter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8" d="100"/>
          <a:sy n="58" d="100"/>
        </p:scale>
        <p:origin x="7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3764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2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A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802136"/>
            <a:ext cx="7556421" cy="1559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Customer Shopping Behavior Analysis</a:t>
            </a:r>
            <a:endParaRPr lang="en-US" sz="4900" dirty="0"/>
          </a:p>
        </p:txBody>
      </p:sp>
      <p:sp>
        <p:nvSpPr>
          <p:cNvPr id="4" name="Text 1"/>
          <p:cNvSpPr/>
          <p:nvPr/>
        </p:nvSpPr>
        <p:spPr>
          <a:xfrm>
            <a:off x="6280190" y="4701540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Analyzing 3,900 purchases to identify spending patterns and customer segments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36489" y="495419"/>
            <a:ext cx="1553647" cy="293132"/>
          </a:xfrm>
          <a:prstGeom prst="roundRect">
            <a:avLst>
              <a:gd name="adj" fmla="val 19532"/>
            </a:avLst>
          </a:prstGeom>
          <a:solidFill>
            <a:srgbClr val="E0D7F4"/>
          </a:solidFill>
          <a:ln/>
        </p:spPr>
      </p:sp>
      <p:sp>
        <p:nvSpPr>
          <p:cNvPr id="3" name="Text 1"/>
          <p:cNvSpPr/>
          <p:nvPr/>
        </p:nvSpPr>
        <p:spPr>
          <a:xfrm>
            <a:off x="1538645" y="546497"/>
            <a:ext cx="1349335" cy="190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436489" y="839748"/>
            <a:ext cx="6229826" cy="585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6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Data Behind the Insights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1436489" y="1702594"/>
            <a:ext cx="3812500" cy="562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n-US" sz="4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3.9K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2171224" y="2445901"/>
            <a:ext cx="2342912" cy="2928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Total Purchases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36489" y="2815590"/>
            <a:ext cx="3812500" cy="238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5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Transactions analyzed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08890" y="1702594"/>
            <a:ext cx="3812500" cy="562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n-US" sz="4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18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143625" y="2445901"/>
            <a:ext cx="2342912" cy="2928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Points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08890" y="2815590"/>
            <a:ext cx="3812500" cy="238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5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per customer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381292" y="1702594"/>
            <a:ext cx="3812500" cy="562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n-US" sz="4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37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0116026" y="2445901"/>
            <a:ext cx="2342912" cy="2928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Missing Values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381292" y="2815590"/>
            <a:ext cx="3812500" cy="238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5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review ratings only</a:t>
            </a:r>
            <a:endParaRPr lang="en-US" sz="13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489" y="3342084"/>
            <a:ext cx="7496651" cy="4248031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356527" y="4485084"/>
            <a:ext cx="2811542" cy="35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Features Tracked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9356527" y="4964430"/>
            <a:ext cx="3844766" cy="1432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demographics: age, gender, location</a:t>
            </a:r>
            <a:endParaRPr lang="en-US" sz="1300" dirty="0"/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Purchase details: category, amount, season</a:t>
            </a:r>
            <a:endParaRPr lang="en-US" sz="1300" dirty="0"/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Shopping behavior: discounts, reviews, frequency</a:t>
            </a:r>
            <a:endParaRPr lang="en-US" sz="1300" dirty="0"/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 and shipping preferences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561" y="1173718"/>
            <a:ext cx="1680329" cy="345281"/>
          </a:xfrm>
          <a:prstGeom prst="roundRect">
            <a:avLst>
              <a:gd name="adj" fmla="val 18184"/>
            </a:avLst>
          </a:prstGeom>
          <a:noFill/>
          <a:ln w="7620">
            <a:solidFill>
              <a:srgbClr val="623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8219" y="1237298"/>
            <a:ext cx="1441013" cy="218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0" dirty="0">
                <a:solidFill>
                  <a:srgbClr val="6237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PREPARATION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68561" y="1580555"/>
            <a:ext cx="5870257" cy="6423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40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Python Analysis Pipeline</a:t>
            </a:r>
            <a:endParaRPr lang="en-US" sz="40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561" y="3461623"/>
            <a:ext cx="8221028" cy="21752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2802" y="4197125"/>
            <a:ext cx="1242651" cy="2447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Load Data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502802" y="4505161"/>
            <a:ext cx="1242651" cy="32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 sources into Python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926789" y="4023824"/>
            <a:ext cx="1242651" cy="489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Explore &amp; Clean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2926789" y="4576608"/>
            <a:ext cx="1242651" cy="32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 structure and anomalies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350776" y="4197125"/>
            <a:ext cx="1242651" cy="734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Handle Missing Values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350776" y="4994657"/>
            <a:ext cx="1242651" cy="32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Impute with median or mode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774763" y="3861524"/>
            <a:ext cx="1242651" cy="489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Engineer Features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774763" y="4414308"/>
            <a:ext cx="1242651" cy="48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groups and frequency metrics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206661" y="4197125"/>
            <a:ext cx="1242651" cy="489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Export to MySQL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06661" y="4749909"/>
            <a:ext cx="1242651" cy="32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5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cleaned table to DB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68561" y="5810012"/>
            <a:ext cx="8221028" cy="27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Systematic approach to ensure data quality and consistency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552980" y="2607588"/>
            <a:ext cx="3083123" cy="385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Transformations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9552980" y="3166110"/>
            <a:ext cx="4216360" cy="1136333"/>
          </a:xfrm>
          <a:prstGeom prst="roundRect">
            <a:avLst>
              <a:gd name="adj" fmla="val 6907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747409" y="3360539"/>
            <a:ext cx="2569250" cy="3211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Missing Data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747409" y="3835479"/>
            <a:ext cx="3827502" cy="27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Imputed with category median ratings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552980" y="4456271"/>
            <a:ext cx="4216360" cy="1136333"/>
          </a:xfrm>
          <a:prstGeom prst="roundRect">
            <a:avLst>
              <a:gd name="adj" fmla="val 6907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747409" y="4650700"/>
            <a:ext cx="2569250" cy="3211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Feature Engineering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747409" y="5125641"/>
            <a:ext cx="3827502" cy="27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Created age groups and frequency metrics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9552980" y="5746433"/>
            <a:ext cx="4216360" cy="1136333"/>
          </a:xfrm>
          <a:prstGeom prst="roundRect">
            <a:avLst>
              <a:gd name="adj" fmla="val 6907"/>
            </a:avLst>
          </a:prstGeom>
          <a:solidFill>
            <a:srgbClr val="E0D7F4"/>
          </a:solidFill>
          <a:ln w="7620">
            <a:solidFill>
              <a:srgbClr val="C6BDD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747409" y="5940862"/>
            <a:ext cx="2569250" cy="3211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Standardization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9747409" y="6415802"/>
            <a:ext cx="3827502" cy="27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Renamed columns, removed redundancies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80242"/>
            <a:ext cx="7930634" cy="779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Revenue Insights by Gender</a:t>
            </a:r>
            <a:endParaRPr lang="en-US" sz="4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355175"/>
            <a:ext cx="8284131" cy="438173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052649" y="6767393"/>
            <a:ext cx="226814" cy="226814"/>
          </a:xfrm>
          <a:prstGeom prst="roundRect">
            <a:avLst>
              <a:gd name="adj" fmla="val 8063"/>
            </a:avLst>
          </a:prstGeom>
          <a:solidFill>
            <a:srgbClr val="1D113C"/>
          </a:solidFill>
          <a:ln/>
        </p:spPr>
      </p:sp>
      <p:sp>
        <p:nvSpPr>
          <p:cNvPr id="5" name="Text 2"/>
          <p:cNvSpPr/>
          <p:nvPr/>
        </p:nvSpPr>
        <p:spPr>
          <a:xfrm>
            <a:off x="4340423" y="6767393"/>
            <a:ext cx="519232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Male</a:t>
            </a:r>
            <a:endParaRPr lang="en-US" sz="1750" dirty="0"/>
          </a:p>
        </p:txBody>
      </p:sp>
      <p:sp>
        <p:nvSpPr>
          <p:cNvPr id="6" name="Shape 3"/>
          <p:cNvSpPr/>
          <p:nvPr/>
        </p:nvSpPr>
        <p:spPr>
          <a:xfrm>
            <a:off x="5012055" y="6767393"/>
            <a:ext cx="226814" cy="226814"/>
          </a:xfrm>
          <a:prstGeom prst="roundRect">
            <a:avLst>
              <a:gd name="adj" fmla="val 8063"/>
            </a:avLst>
          </a:prstGeom>
          <a:solidFill>
            <a:srgbClr val="683FCA"/>
          </a:solidFill>
          <a:ln/>
        </p:spPr>
      </p:sp>
      <p:sp>
        <p:nvSpPr>
          <p:cNvPr id="7" name="Text 4"/>
          <p:cNvSpPr/>
          <p:nvPr/>
        </p:nvSpPr>
        <p:spPr>
          <a:xfrm>
            <a:off x="5299829" y="6767393"/>
            <a:ext cx="76997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Female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9638943" y="2914174"/>
            <a:ext cx="4205168" cy="935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Male Customers Drive Revenue</a:t>
            </a:r>
            <a:endParaRPr lang="en-US" sz="2900" dirty="0"/>
          </a:p>
        </p:txBody>
      </p:sp>
      <p:sp>
        <p:nvSpPr>
          <p:cNvPr id="9" name="Text 6"/>
          <p:cNvSpPr/>
          <p:nvPr/>
        </p:nvSpPr>
        <p:spPr>
          <a:xfrm>
            <a:off x="9638943" y="4076343"/>
            <a:ext cx="420516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Male customers generate </a:t>
            </a:r>
            <a:r>
              <a:rPr lang="en-US" sz="1750" dirty="0">
                <a:solidFill>
                  <a:srgbClr val="FFFFFF"/>
                </a:solidFill>
                <a:highlight>
                  <a:srgbClr val="BE49D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68% of total revenue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more than double female customer spending.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9638943" y="5369123"/>
            <a:ext cx="420516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significant gap suggests opportunities for targeted marketing to female segments.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1644848"/>
            <a:ext cx="2171224" cy="426244"/>
          </a:xfrm>
          <a:prstGeom prst="roundRect">
            <a:avLst>
              <a:gd name="adj" fmla="val 17880"/>
            </a:avLst>
          </a:prstGeom>
          <a:solidFill>
            <a:srgbClr val="E0D7F4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9878" y="1767245"/>
            <a:ext cx="181451" cy="18145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2055" y="1712833"/>
            <a:ext cx="1626870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PERFORMERS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93790" y="2161818"/>
            <a:ext cx="8673584" cy="779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Product Performance Analysis</a:t>
            </a:r>
            <a:endParaRPr lang="en-US" sz="49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3281601"/>
            <a:ext cx="1767840" cy="1767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93790" y="5332928"/>
            <a:ext cx="3048000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Gloves</a:t>
            </a:r>
            <a:endParaRPr lang="en-US" sz="2450" dirty="0"/>
          </a:p>
        </p:txBody>
      </p:sp>
      <p:sp>
        <p:nvSpPr>
          <p:cNvPr id="8" name="Text 4"/>
          <p:cNvSpPr/>
          <p:nvPr/>
        </p:nvSpPr>
        <p:spPr>
          <a:xfrm>
            <a:off x="793790" y="5858947"/>
            <a:ext cx="304800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Highest rated at 3.86 stars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5278" y="3281601"/>
            <a:ext cx="1767840" cy="1767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125278" y="5332928"/>
            <a:ext cx="3048119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Sandals</a:t>
            </a:r>
            <a:endParaRPr lang="en-US" sz="2450" dirty="0"/>
          </a:p>
        </p:txBody>
      </p:sp>
      <p:sp>
        <p:nvSpPr>
          <p:cNvPr id="11" name="Text 6"/>
          <p:cNvSpPr/>
          <p:nvPr/>
        </p:nvSpPr>
        <p:spPr>
          <a:xfrm>
            <a:off x="4125278" y="5858947"/>
            <a:ext cx="30481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Strong rating of 3.84 stars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6884" y="3281601"/>
            <a:ext cx="1767840" cy="176784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56884" y="5332928"/>
            <a:ext cx="3048119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Boots</a:t>
            </a:r>
            <a:endParaRPr lang="en-US" sz="2450" dirty="0"/>
          </a:p>
        </p:txBody>
      </p:sp>
      <p:sp>
        <p:nvSpPr>
          <p:cNvPr id="14" name="Text 8"/>
          <p:cNvSpPr/>
          <p:nvPr/>
        </p:nvSpPr>
        <p:spPr>
          <a:xfrm>
            <a:off x="7456884" y="5858947"/>
            <a:ext cx="304811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Rated 3.82 stars by customers</a:t>
            </a:r>
            <a:endParaRPr lang="en-US" sz="17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8491" y="3281601"/>
            <a:ext cx="1767840" cy="176784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788491" y="5332928"/>
            <a:ext cx="3048119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Hat</a:t>
            </a:r>
            <a:endParaRPr lang="en-US" sz="2450" dirty="0"/>
          </a:p>
        </p:txBody>
      </p:sp>
      <p:sp>
        <p:nvSpPr>
          <p:cNvPr id="17" name="Text 10"/>
          <p:cNvSpPr/>
          <p:nvPr/>
        </p:nvSpPr>
        <p:spPr>
          <a:xfrm>
            <a:off x="10788491" y="5858947"/>
            <a:ext cx="304811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Solid 3.80 star rating</a:t>
            </a:r>
            <a:endParaRPr lang="en-US" sz="1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9028" y="520660"/>
            <a:ext cx="8542377" cy="6491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0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Customer Segmentation Breakdown</a:t>
            </a:r>
            <a:endParaRPr lang="en-US" sz="40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028" y="1582579"/>
            <a:ext cx="8309610" cy="443400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744391" y="6047065"/>
            <a:ext cx="188833" cy="188833"/>
          </a:xfrm>
          <a:prstGeom prst="roundRect">
            <a:avLst>
              <a:gd name="adj" fmla="val 9685"/>
            </a:avLst>
          </a:prstGeom>
          <a:solidFill>
            <a:srgbClr val="1D113C"/>
          </a:solidFill>
          <a:ln/>
        </p:spPr>
      </p:sp>
      <p:sp>
        <p:nvSpPr>
          <p:cNvPr id="5" name="Text 2"/>
          <p:cNvSpPr/>
          <p:nvPr/>
        </p:nvSpPr>
        <p:spPr>
          <a:xfrm>
            <a:off x="2994184" y="6047065"/>
            <a:ext cx="473035" cy="1888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4398645" y="6047065"/>
            <a:ext cx="188833" cy="188833"/>
          </a:xfrm>
          <a:prstGeom prst="roundRect">
            <a:avLst>
              <a:gd name="adj" fmla="val 9685"/>
            </a:avLst>
          </a:prstGeom>
          <a:solidFill>
            <a:srgbClr val="4E2C9F"/>
          </a:solidFill>
          <a:ln/>
        </p:spPr>
      </p:sp>
      <p:sp>
        <p:nvSpPr>
          <p:cNvPr id="7" name="Text 4"/>
          <p:cNvSpPr/>
          <p:nvPr/>
        </p:nvSpPr>
        <p:spPr>
          <a:xfrm>
            <a:off x="4648438" y="6047065"/>
            <a:ext cx="860465" cy="1888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Returning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40329" y="6047065"/>
            <a:ext cx="188833" cy="188833"/>
          </a:xfrm>
          <a:prstGeom prst="roundRect">
            <a:avLst>
              <a:gd name="adj" fmla="val 9685"/>
            </a:avLst>
          </a:prstGeom>
          <a:solidFill>
            <a:srgbClr val="8F70D8"/>
          </a:solidFill>
          <a:ln/>
        </p:spPr>
      </p:sp>
      <p:sp>
        <p:nvSpPr>
          <p:cNvPr id="9" name="Text 6"/>
          <p:cNvSpPr/>
          <p:nvPr/>
        </p:nvSpPr>
        <p:spPr>
          <a:xfrm>
            <a:off x="6690122" y="6047065"/>
            <a:ext cx="403265" cy="1888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577030" y="3172182"/>
            <a:ext cx="4261723" cy="778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Loyalty Dominates Customer Base</a:t>
            </a:r>
            <a:endParaRPr lang="en-US" sz="2450" dirty="0"/>
          </a:p>
        </p:txBody>
      </p:sp>
      <p:sp>
        <p:nvSpPr>
          <p:cNvPr id="11" name="Text 8"/>
          <p:cNvSpPr/>
          <p:nvPr/>
        </p:nvSpPr>
        <p:spPr>
          <a:xfrm>
            <a:off x="9577030" y="4108252"/>
            <a:ext cx="4261723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b="1" dirty="0">
                <a:solidFill>
                  <a:srgbClr val="BE49D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80% of customers are loyal</a:t>
            </a: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representing repeat buyers with strong purchase history.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99028" y="6589752"/>
            <a:ext cx="4239220" cy="1119068"/>
          </a:xfrm>
          <a:prstGeom prst="roundRect">
            <a:avLst>
              <a:gd name="adj" fmla="val 7089"/>
            </a:avLst>
          </a:prstGeom>
          <a:solidFill>
            <a:srgbClr val="FDFAF7"/>
          </a:solidFill>
          <a:ln w="22860">
            <a:solidFill>
              <a:srgbClr val="C6BD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10722" y="6801445"/>
            <a:ext cx="2596991" cy="324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3,116 Loyal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010722" y="7220307"/>
            <a:ext cx="3815834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Frequent repeat purchases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195411" y="6589752"/>
            <a:ext cx="4239339" cy="1119068"/>
          </a:xfrm>
          <a:prstGeom prst="roundRect">
            <a:avLst>
              <a:gd name="adj" fmla="val 7089"/>
            </a:avLst>
          </a:prstGeom>
          <a:solidFill>
            <a:srgbClr val="FDFAF7"/>
          </a:solidFill>
          <a:ln w="22860">
            <a:solidFill>
              <a:srgbClr val="C6BD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07104" y="6801445"/>
            <a:ext cx="2596991" cy="324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701 Returning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5407104" y="7220307"/>
            <a:ext cx="3815953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purchases made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9591913" y="6589752"/>
            <a:ext cx="4239339" cy="1119068"/>
          </a:xfrm>
          <a:prstGeom prst="roundRect">
            <a:avLst>
              <a:gd name="adj" fmla="val 7089"/>
            </a:avLst>
          </a:prstGeom>
          <a:solidFill>
            <a:srgbClr val="FDFAF7"/>
          </a:solidFill>
          <a:ln w="22860">
            <a:solidFill>
              <a:srgbClr val="C6BDD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03606" y="6801445"/>
            <a:ext cx="2596991" cy="324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83 New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803606" y="7220307"/>
            <a:ext cx="3815953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First-time buyers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8658" y="972979"/>
            <a:ext cx="2228612" cy="368260"/>
          </a:xfrm>
          <a:prstGeom prst="roundRect">
            <a:avLst>
              <a:gd name="adj" fmla="val 17953"/>
            </a:avLst>
          </a:prstGeom>
          <a:noFill/>
          <a:ln w="7620">
            <a:solidFill>
              <a:srgbClr val="6237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4268" y="1039535"/>
            <a:ext cx="1977390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00" dirty="0">
                <a:solidFill>
                  <a:srgbClr val="6237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 ANALYSIS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8658" y="1409462"/>
            <a:ext cx="11864697" cy="676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Subscription vs. Non-Subscription Performance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688658" y="2154079"/>
            <a:ext cx="3246596" cy="405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55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Numbers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2738438" y="4094678"/>
            <a:ext cx="2420064" cy="491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850"/>
              </a:lnSpc>
              <a:buNone/>
            </a:pPr>
            <a:r>
              <a:rPr lang="en-US" sz="3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27%</a:t>
            </a:r>
            <a:endParaRPr lang="en-US" sz="38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2809" y="2865001"/>
            <a:ext cx="2951440" cy="29514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595801" y="6036231"/>
            <a:ext cx="2705457" cy="338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Subscribed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88658" y="6476762"/>
            <a:ext cx="6519863" cy="293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1,053 customers with subscriptions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471660" y="4094678"/>
            <a:ext cx="2420064" cy="491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850"/>
              </a:lnSpc>
              <a:buNone/>
            </a:pPr>
            <a:r>
              <a:rPr lang="en-US" sz="38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73%</a:t>
            </a:r>
            <a:endParaRPr lang="en-US" sz="38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032" y="2865001"/>
            <a:ext cx="2951440" cy="29514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29023" y="6036231"/>
            <a:ext cx="2705457" cy="338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Non-Subscribed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7421880" y="6476762"/>
            <a:ext cx="6519863" cy="293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2,847 customers without subscriptions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88658" y="6962656"/>
            <a:ext cx="13253085" cy="293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Despite lower subscription rates, average spend is nearly identical: </a:t>
            </a:r>
            <a:r>
              <a:rPr lang="en-US" sz="15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$59.49 vs. $59.87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80242"/>
            <a:ext cx="10042088" cy="779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Revenue Distribution by Age Group</a:t>
            </a:r>
            <a:endParaRPr lang="en-US" sz="4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355175"/>
            <a:ext cx="8284131" cy="4639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475589" y="2100024"/>
            <a:ext cx="4531876" cy="5149334"/>
          </a:xfrm>
          <a:prstGeom prst="roundRect">
            <a:avLst>
              <a:gd name="adj" fmla="val 3604"/>
            </a:avLst>
          </a:prstGeom>
          <a:solidFill>
            <a:srgbClr val="BE49DF"/>
          </a:solidFill>
          <a:ln/>
        </p:spPr>
      </p:sp>
      <p:sp>
        <p:nvSpPr>
          <p:cNvPr id="5" name="Text 2"/>
          <p:cNvSpPr/>
          <p:nvPr/>
        </p:nvSpPr>
        <p:spPr>
          <a:xfrm>
            <a:off x="9702403" y="3095625"/>
            <a:ext cx="4078248" cy="935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Young Adults Lead Spending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9702403" y="4257794"/>
            <a:ext cx="407824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Relatively balanced revenue across age groups, with young adults contributing slightly more.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9702403" y="5550575"/>
            <a:ext cx="407824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segments show strong engagement and purchasing power.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93790" y="1002744"/>
            <a:ext cx="2325053" cy="426244"/>
          </a:xfrm>
          <a:prstGeom prst="roundRect">
            <a:avLst>
              <a:gd name="adj" fmla="val 17880"/>
            </a:avLst>
          </a:prstGeom>
          <a:solidFill>
            <a:srgbClr val="E0D7F4"/>
          </a:solidFill>
          <a:ln/>
        </p:spPr>
      </p:sp>
      <p:sp>
        <p:nvSpPr>
          <p:cNvPr id="4" name="Text 1"/>
          <p:cNvSpPr/>
          <p:nvPr/>
        </p:nvSpPr>
        <p:spPr>
          <a:xfrm>
            <a:off x="929878" y="1070729"/>
            <a:ext cx="2052876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BI 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93790" y="1519714"/>
            <a:ext cx="7556421" cy="1559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100"/>
              </a:lnSpc>
              <a:buNone/>
            </a:pPr>
            <a:r>
              <a:rPr lang="en-US" sz="49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Interactive Visual Analytics</a:t>
            </a:r>
            <a:endParaRPr lang="en-US" sz="49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3790" y="3419118"/>
            <a:ext cx="453628" cy="45362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530906" y="3496985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KPI Tracking</a:t>
            </a:r>
            <a:endParaRPr lang="en-US" sz="2450" dirty="0"/>
          </a:p>
        </p:txBody>
      </p:sp>
      <p:sp>
        <p:nvSpPr>
          <p:cNvPr id="8" name="Text 4"/>
          <p:cNvSpPr/>
          <p:nvPr/>
        </p:nvSpPr>
        <p:spPr>
          <a:xfrm>
            <a:off x="1530906" y="4023003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 customers, purchase amounts, and ratings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3790" y="4839533"/>
            <a:ext cx="453628" cy="45362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30906" y="4917400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Revenue Analysis</a:t>
            </a:r>
            <a:endParaRPr lang="en-US" sz="2450" dirty="0"/>
          </a:p>
        </p:txBody>
      </p:sp>
      <p:sp>
        <p:nvSpPr>
          <p:cNvPr id="11" name="Text 6"/>
          <p:cNvSpPr/>
          <p:nvPr/>
        </p:nvSpPr>
        <p:spPr>
          <a:xfrm>
            <a:off x="1530906" y="5443418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Visualize performance by category and age group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3790" y="6259949"/>
            <a:ext cx="453628" cy="45362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530906" y="6337816"/>
            <a:ext cx="3118842" cy="389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Interactive Filters</a:t>
            </a:r>
            <a:endParaRPr lang="en-US" sz="2450" dirty="0"/>
          </a:p>
        </p:txBody>
      </p:sp>
      <p:sp>
        <p:nvSpPr>
          <p:cNvPr id="14" name="Text 8"/>
          <p:cNvSpPr/>
          <p:nvPr/>
        </p:nvSpPr>
        <p:spPr>
          <a:xfrm>
            <a:off x="1530906" y="6863834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Slice data by gender, category, subscription, shipping</a:t>
            </a:r>
            <a:endParaRPr lang="en-US" sz="17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94AF53-CAE9-E557-9035-E1963A1D8D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9846" y="1361002"/>
            <a:ext cx="6500553" cy="60206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67947" y="472678"/>
            <a:ext cx="2495312" cy="278487"/>
          </a:xfrm>
          <a:prstGeom prst="roundRect">
            <a:avLst>
              <a:gd name="adj" fmla="val 19749"/>
            </a:avLst>
          </a:prstGeom>
          <a:solidFill>
            <a:srgbClr val="E0D7F4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6054" y="546497"/>
            <a:ext cx="130850" cy="1308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62269" y="521732"/>
            <a:ext cx="2102882" cy="180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STRATEGIC RECOMMENDATIONS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667947" y="798314"/>
            <a:ext cx="4501396" cy="5626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Business Actions</a:t>
            </a:r>
            <a:endParaRPr lang="en-US" sz="35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7947" y="1538168"/>
            <a:ext cx="3764756" cy="6547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31538" y="2311003"/>
            <a:ext cx="2250638" cy="2812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Boost Subscriptions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1831538" y="2663071"/>
            <a:ext cx="3437573" cy="450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Promote exclusive benefits to increase 27% subscription rate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2703" y="1538168"/>
            <a:ext cx="3764875" cy="65472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596295" y="2311003"/>
            <a:ext cx="2250638" cy="2812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Loyalty Programs</a:t>
            </a:r>
            <a:endParaRPr lang="en-US" sz="1750" dirty="0"/>
          </a:p>
        </p:txBody>
      </p:sp>
      <p:sp>
        <p:nvSpPr>
          <p:cNvPr id="11" name="Text 6"/>
          <p:cNvSpPr/>
          <p:nvPr/>
        </p:nvSpPr>
        <p:spPr>
          <a:xfrm>
            <a:off x="5596295" y="2663071"/>
            <a:ext cx="3437692" cy="450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Reward repeat buyers to strengthen 80% loyal segment</a:t>
            </a:r>
            <a:endParaRPr lang="en-US" sz="12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7578" y="1538168"/>
            <a:ext cx="3764875" cy="65472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361170" y="2311003"/>
            <a:ext cx="2250638" cy="2812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Targeted Marketing</a:t>
            </a:r>
            <a:endParaRPr lang="en-US" sz="1750" dirty="0"/>
          </a:p>
        </p:txBody>
      </p:sp>
      <p:sp>
        <p:nvSpPr>
          <p:cNvPr id="14" name="Text 8"/>
          <p:cNvSpPr/>
          <p:nvPr/>
        </p:nvSpPr>
        <p:spPr>
          <a:xfrm>
            <a:off x="9361170" y="2663071"/>
            <a:ext cx="3437692" cy="450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high-revenue age groups and express shipping users</a:t>
            </a:r>
            <a:endParaRPr lang="en-US" sz="12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67947" y="3543181"/>
            <a:ext cx="7201614" cy="408086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9276517" y="4676656"/>
            <a:ext cx="3143845" cy="3375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F95F88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Additional Opportunities</a:t>
            </a:r>
            <a:endParaRPr lang="en-US" sz="2100" dirty="0"/>
          </a:p>
        </p:txBody>
      </p:sp>
      <p:sp>
        <p:nvSpPr>
          <p:cNvPr id="17" name="Text 10"/>
          <p:cNvSpPr/>
          <p:nvPr/>
        </p:nvSpPr>
        <p:spPr>
          <a:xfrm>
            <a:off x="9276517" y="5132308"/>
            <a:ext cx="3693438" cy="135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discount strategy to balance sales and margins</a:t>
            </a:r>
            <a:endParaRPr lang="en-US" sz="1250" dirty="0"/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Highlight top-rated products in marketing campaigns</a:t>
            </a:r>
            <a:endParaRPr lang="en-US" sz="1250" dirty="0"/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 female customer engagement initiatives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425</Words>
  <Application>Microsoft Office PowerPoint</Application>
  <PresentationFormat>Custom</PresentationFormat>
  <Paragraphs>110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Petrona Bold</vt:lpstr>
      <vt:lpstr>Inter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HP</cp:lastModifiedBy>
  <cp:revision>2</cp:revision>
  <dcterms:created xsi:type="dcterms:W3CDTF">2026-02-11T11:10:37Z</dcterms:created>
  <dcterms:modified xsi:type="dcterms:W3CDTF">2026-02-12T05:42:36Z</dcterms:modified>
</cp:coreProperties>
</file>