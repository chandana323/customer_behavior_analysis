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0213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47015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3,900 purchases to identify spending patterns and customer segments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6489" y="495419"/>
            <a:ext cx="1553647" cy="293132"/>
          </a:xfrm>
          <a:prstGeom prst="roundRect">
            <a:avLst>
              <a:gd name="adj" fmla="val 19532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538645" y="546497"/>
            <a:ext cx="1349335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6489" y="839748"/>
            <a:ext cx="6229826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Data Behind the Insights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1436489" y="1702594"/>
            <a:ext cx="3812500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3.9K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71224" y="2445901"/>
            <a:ext cx="23429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Purchases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6489" y="2815590"/>
            <a:ext cx="381250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analyzed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08890" y="1702594"/>
            <a:ext cx="3812500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43625" y="2445901"/>
            <a:ext cx="23429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08890" y="2815590"/>
            <a:ext cx="381250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per customer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81292" y="1702594"/>
            <a:ext cx="3812500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0116026" y="2445901"/>
            <a:ext cx="23429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81292" y="2815590"/>
            <a:ext cx="381250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review ratings only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489" y="3342084"/>
            <a:ext cx="7496651" cy="424803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56527" y="4485084"/>
            <a:ext cx="2811542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 Tracked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56527" y="4964430"/>
            <a:ext cx="3844766" cy="143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demographics: age, gender, location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details: category, amount, season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behavior: discounts, reviews, frequency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and shipping preferences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561" y="1173718"/>
            <a:ext cx="1680329" cy="345281"/>
          </a:xfrm>
          <a:prstGeom prst="roundRect">
            <a:avLst>
              <a:gd name="adj" fmla="val 18184"/>
            </a:avLst>
          </a:prstGeom>
          <a:noFill/>
          <a:ln w="762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219" y="1237298"/>
            <a:ext cx="144101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561" y="1580555"/>
            <a:ext cx="5870257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Analysis Pipeline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561" y="3461623"/>
            <a:ext cx="8221028" cy="21752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2802" y="4197125"/>
            <a:ext cx="1242651" cy="24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2802" y="4505161"/>
            <a:ext cx="1242651" cy="3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sources into 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789" y="4023824"/>
            <a:ext cx="1242651" cy="48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Explore &amp; Clean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26789" y="4576608"/>
            <a:ext cx="1242651" cy="3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structure and anomalies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50776" y="4197125"/>
            <a:ext cx="1242651" cy="73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 Missing Values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50776" y="4994657"/>
            <a:ext cx="1242651" cy="3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with median or mode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74763" y="3861524"/>
            <a:ext cx="1242651" cy="48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74763" y="4414308"/>
            <a:ext cx="1242651" cy="48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groups and frequency metrics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06661" y="4197125"/>
            <a:ext cx="1242651" cy="48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Export to MySQL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06661" y="4749909"/>
            <a:ext cx="1242651" cy="3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cleaned table to DB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561" y="5810012"/>
            <a:ext cx="8221028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approach to ensure data quality and consistency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552980" y="2607588"/>
            <a:ext cx="308312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Transformations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552980" y="3166110"/>
            <a:ext cx="4216360" cy="1136333"/>
          </a:xfrm>
          <a:prstGeom prst="roundRect">
            <a:avLst>
              <a:gd name="adj" fmla="val 69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47409" y="3360539"/>
            <a:ext cx="256925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747409" y="3835479"/>
            <a:ext cx="3827502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with category median ratings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9552980" y="4456271"/>
            <a:ext cx="4216360" cy="1136333"/>
          </a:xfrm>
          <a:prstGeom prst="roundRect">
            <a:avLst>
              <a:gd name="adj" fmla="val 69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47409" y="4650700"/>
            <a:ext cx="256925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747409" y="5125641"/>
            <a:ext cx="3827502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frequency metrics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9552980" y="5746433"/>
            <a:ext cx="4216360" cy="1136333"/>
          </a:xfrm>
          <a:prstGeom prst="roundRect">
            <a:avLst>
              <a:gd name="adj" fmla="val 69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47409" y="5940862"/>
            <a:ext cx="256925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Standardization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747409" y="6415802"/>
            <a:ext cx="3827502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columns, removed redundancies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242"/>
            <a:ext cx="793063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Insights by Gender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517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52649" y="67673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D113C"/>
          </a:solidFill>
          <a:ln/>
        </p:spPr>
      </p:sp>
      <p:sp>
        <p:nvSpPr>
          <p:cNvPr id="5" name="Text 2"/>
          <p:cNvSpPr/>
          <p:nvPr/>
        </p:nvSpPr>
        <p:spPr>
          <a:xfrm>
            <a:off x="4340423" y="6767393"/>
            <a:ext cx="519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673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83FCA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67393"/>
            <a:ext cx="7699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2914174"/>
            <a:ext cx="4205168" cy="935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Male Customers Drive Revenue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9638943" y="407634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BE49D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68% of total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more than double female customer spending.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536912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significant gap suggests opportunities for targeted marketing to female segments.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4848"/>
            <a:ext cx="2171224" cy="426244"/>
          </a:xfrm>
          <a:prstGeom prst="roundRect">
            <a:avLst>
              <a:gd name="adj" fmla="val 17880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76724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2833"/>
            <a:ext cx="16268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1818"/>
            <a:ext cx="86735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Performance Analysis</a:t>
            </a:r>
            <a:endParaRPr lang="en-US" sz="4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81601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332928"/>
            <a:ext cx="3048000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793790" y="5858947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rated at 3.86 stars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281601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5278" y="5332928"/>
            <a:ext cx="304811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</a:t>
            </a:r>
            <a:endParaRPr lang="en-US" sz="2450" dirty="0"/>
          </a:p>
        </p:txBody>
      </p:sp>
      <p:sp>
        <p:nvSpPr>
          <p:cNvPr id="11" name="Text 6"/>
          <p:cNvSpPr/>
          <p:nvPr/>
        </p:nvSpPr>
        <p:spPr>
          <a:xfrm>
            <a:off x="4125278" y="5858947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rating of 3.84 stars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281601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332928"/>
            <a:ext cx="304811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7456884" y="5858947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Rated 3.82 stars by customers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281601"/>
            <a:ext cx="1767840" cy="17678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8491" y="5332928"/>
            <a:ext cx="304811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Hat</a:t>
            </a:r>
            <a:endParaRPr lang="en-US" sz="2450" dirty="0"/>
          </a:p>
        </p:txBody>
      </p:sp>
      <p:sp>
        <p:nvSpPr>
          <p:cNvPr id="17" name="Text 10"/>
          <p:cNvSpPr/>
          <p:nvPr/>
        </p:nvSpPr>
        <p:spPr>
          <a:xfrm>
            <a:off x="10788491" y="5858947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3.80 star rating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028" y="520660"/>
            <a:ext cx="8542377" cy="64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 Breakdown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028" y="1582579"/>
            <a:ext cx="8309610" cy="44340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4391" y="6047065"/>
            <a:ext cx="188833" cy="188833"/>
          </a:xfrm>
          <a:prstGeom prst="roundRect">
            <a:avLst>
              <a:gd name="adj" fmla="val 9685"/>
            </a:avLst>
          </a:prstGeom>
          <a:solidFill>
            <a:srgbClr val="1D113C"/>
          </a:solidFill>
          <a:ln/>
        </p:spPr>
      </p:sp>
      <p:sp>
        <p:nvSpPr>
          <p:cNvPr id="5" name="Text 2"/>
          <p:cNvSpPr/>
          <p:nvPr/>
        </p:nvSpPr>
        <p:spPr>
          <a:xfrm>
            <a:off x="2994184" y="6047065"/>
            <a:ext cx="473035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398645" y="6047065"/>
            <a:ext cx="188833" cy="188833"/>
          </a:xfrm>
          <a:prstGeom prst="roundRect">
            <a:avLst>
              <a:gd name="adj" fmla="val 9685"/>
            </a:avLst>
          </a:prstGeom>
          <a:solidFill>
            <a:srgbClr val="4E2C9F"/>
          </a:solidFill>
          <a:ln/>
        </p:spPr>
      </p:sp>
      <p:sp>
        <p:nvSpPr>
          <p:cNvPr id="7" name="Text 4"/>
          <p:cNvSpPr/>
          <p:nvPr/>
        </p:nvSpPr>
        <p:spPr>
          <a:xfrm>
            <a:off x="4648438" y="6047065"/>
            <a:ext cx="860465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40329" y="6047065"/>
            <a:ext cx="188833" cy="188833"/>
          </a:xfrm>
          <a:prstGeom prst="roundRect">
            <a:avLst>
              <a:gd name="adj" fmla="val 9685"/>
            </a:avLst>
          </a:prstGeom>
          <a:solidFill>
            <a:srgbClr val="8F70D8"/>
          </a:solidFill>
          <a:ln/>
        </p:spPr>
      </p:sp>
      <p:sp>
        <p:nvSpPr>
          <p:cNvPr id="9" name="Text 6"/>
          <p:cNvSpPr/>
          <p:nvPr/>
        </p:nvSpPr>
        <p:spPr>
          <a:xfrm>
            <a:off x="6690122" y="6047065"/>
            <a:ext cx="403265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577030" y="3172182"/>
            <a:ext cx="4261723" cy="778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Dominates Customer Base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9577030" y="4108252"/>
            <a:ext cx="426172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customers are loyal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representing repeat buyers with strong purchase history.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99028" y="6589752"/>
            <a:ext cx="4239220" cy="1119068"/>
          </a:xfrm>
          <a:prstGeom prst="roundRect">
            <a:avLst>
              <a:gd name="adj" fmla="val 708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0722" y="6801445"/>
            <a:ext cx="259699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3,116 Loyal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10722" y="7220307"/>
            <a:ext cx="381583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repeat purchases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195411" y="6589752"/>
            <a:ext cx="4239339" cy="1119068"/>
          </a:xfrm>
          <a:prstGeom prst="roundRect">
            <a:avLst>
              <a:gd name="adj" fmla="val 708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07104" y="6801445"/>
            <a:ext cx="259699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701 Returning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407104" y="7220307"/>
            <a:ext cx="381595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purchases made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591913" y="6589752"/>
            <a:ext cx="4239339" cy="1119068"/>
          </a:xfrm>
          <a:prstGeom prst="roundRect">
            <a:avLst>
              <a:gd name="adj" fmla="val 708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03606" y="6801445"/>
            <a:ext cx="259699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83 New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803606" y="7220307"/>
            <a:ext cx="381595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First-time buyers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8658" y="972979"/>
            <a:ext cx="2228612" cy="368260"/>
          </a:xfrm>
          <a:prstGeom prst="roundRect">
            <a:avLst>
              <a:gd name="adj" fmla="val 17953"/>
            </a:avLst>
          </a:prstGeom>
          <a:noFill/>
          <a:ln w="762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4268" y="1039535"/>
            <a:ext cx="197739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8658" y="1409462"/>
            <a:ext cx="11864697" cy="676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vs. Non-Subscription Performance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88658" y="2154079"/>
            <a:ext cx="3246596" cy="40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Numbers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738438" y="4094678"/>
            <a:ext cx="2420064" cy="49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27%</a:t>
            </a:r>
            <a:endParaRPr lang="en-US" sz="3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809" y="2865001"/>
            <a:ext cx="2951440" cy="2951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95801" y="6036231"/>
            <a:ext cx="2705457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8658" y="6476762"/>
            <a:ext cx="6519863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customers with subscriptions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71660" y="4094678"/>
            <a:ext cx="2420064" cy="49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73%</a:t>
            </a:r>
            <a:endParaRPr lang="en-US" sz="3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032" y="2865001"/>
            <a:ext cx="2951440" cy="2951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9023" y="6036231"/>
            <a:ext cx="2705457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Non-Subscribed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421880" y="6476762"/>
            <a:ext cx="6519863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customers without subscriptions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8658" y="6962656"/>
            <a:ext cx="13253085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lower subscription rates, average spend is nearly identical: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 vs. $59.87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242"/>
            <a:ext cx="10042088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Distribution by Age Group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5175"/>
            <a:ext cx="8284131" cy="4639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75589" y="2100024"/>
            <a:ext cx="4531876" cy="5149334"/>
          </a:xfrm>
          <a:prstGeom prst="roundRect">
            <a:avLst>
              <a:gd name="adj" fmla="val 3604"/>
            </a:avLst>
          </a:prstGeom>
          <a:solidFill>
            <a:srgbClr val="BE49DF"/>
          </a:solidFill>
          <a:ln/>
        </p:spPr>
      </p:sp>
      <p:sp>
        <p:nvSpPr>
          <p:cNvPr id="5" name="Text 2"/>
          <p:cNvSpPr/>
          <p:nvPr/>
        </p:nvSpPr>
        <p:spPr>
          <a:xfrm>
            <a:off x="9702403" y="3095625"/>
            <a:ext cx="4078248" cy="935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Young Adults Lead Spending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9702403" y="4257794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Relatively balanced revenue across age groups, with young adults contributing slightly more.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702403" y="5550575"/>
            <a:ext cx="40782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segments show strong engagement and purchasing power.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002744"/>
            <a:ext cx="2325053" cy="426244"/>
          </a:xfrm>
          <a:prstGeom prst="roundRect">
            <a:avLst>
              <a:gd name="adj" fmla="val 17880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1070729"/>
            <a:ext cx="205287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19714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Visual Analytics</a:t>
            </a:r>
            <a:endParaRPr lang="en-US" sz="4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41911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349698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KPI Tracking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1530906" y="402300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customers, purchase amounts, and ratings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839533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4917400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Analysis</a:t>
            </a:r>
            <a:endParaRPr lang="en-US" sz="2450" dirty="0"/>
          </a:p>
        </p:txBody>
      </p:sp>
      <p:sp>
        <p:nvSpPr>
          <p:cNvPr id="11" name="Text 6"/>
          <p:cNvSpPr/>
          <p:nvPr/>
        </p:nvSpPr>
        <p:spPr>
          <a:xfrm>
            <a:off x="1530906" y="54434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performance by category and age group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6259949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0906" y="633781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Filters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1530906" y="686383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 data by gender, category, subscription, shipping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47" y="472678"/>
            <a:ext cx="2495312" cy="278487"/>
          </a:xfrm>
          <a:prstGeom prst="roundRect">
            <a:avLst>
              <a:gd name="adj" fmla="val 19749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6054" y="546497"/>
            <a:ext cx="130850" cy="130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2269" y="521732"/>
            <a:ext cx="210288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67947" y="798314"/>
            <a:ext cx="4501396" cy="562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Business Actions</a:t>
            </a:r>
            <a:endParaRPr lang="en-US" sz="3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47" y="1538168"/>
            <a:ext cx="3764756" cy="654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31538" y="2311003"/>
            <a:ext cx="2250638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831538" y="2663071"/>
            <a:ext cx="3437573" cy="4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increase 27% subscription rate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703" y="1538168"/>
            <a:ext cx="3764875" cy="654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96295" y="2311003"/>
            <a:ext cx="2250638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596295" y="2663071"/>
            <a:ext cx="3437692" cy="4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strengthen 80% loyal segment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578" y="1538168"/>
            <a:ext cx="3764875" cy="654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61170" y="2311003"/>
            <a:ext cx="2250638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361170" y="2663071"/>
            <a:ext cx="3437692" cy="4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 shipping users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947" y="3543181"/>
            <a:ext cx="7201614" cy="40808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76517" y="4676656"/>
            <a:ext cx="3143845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Additional Opportunities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9276517" y="5132308"/>
            <a:ext cx="3693438" cy="13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strategy to balance sales and margins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products in marketing campaigns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female customer engagement initiatives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2026-02-11T11:10:37Z</dcterms:created>
  <dcterms:modified xsi:type="dcterms:W3CDTF">2026-02-11T11:10:37Z</dcterms:modified>
</cp:coreProperties>
</file>